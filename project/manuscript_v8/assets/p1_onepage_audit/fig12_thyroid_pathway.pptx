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2400" b="1">
                <a:solidFill>
                  <a:srgbClr val="7B1F2A"/>
                </a:solidFill>
                <a:latin typeface="Noto Sans KR"/>
              </a:rPr>
              <a:t>갑상선 호르몬 합성 + RAI 흡수 분자 pathway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Noto Sans KR"/>
              </a:rPr>
              <a:t>8-gene RAI_8 (red) + THYROID_NONOVERLAP (blue) + TF backbone (green) 의 위치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11430000" cy="868680"/>
          </a:xfrm>
          <a:prstGeom prst="roundRect">
            <a:avLst/>
          </a:prstGeom>
          <a:solidFill>
            <a:srgbClr val="EAF6EC"/>
          </a:solidFill>
          <a:ln w="19050">
            <a:solidFill>
              <a:srgbClr val="3C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100" b="1">
                <a:solidFill>
                  <a:srgbClr val="3C6B4F"/>
                </a:solidFill>
                <a:latin typeface="Noto Sans KR"/>
              </a:rPr>
              <a:t>REGULATORY LAYER · Lineage transcription factors (TF backbone)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146304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C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3C6B4F"/>
                </a:solidFill>
                <a:latin typeface="Noto Sans KR"/>
              </a:rPr>
              <a:t>FOXE1</a:t>
            </a:r>
          </a:p>
          <a:p>
            <a:pPr algn="ctr"/>
            <a:r>
              <a:rPr sz="850" i="1">
                <a:solidFill>
                  <a:srgbClr val="666666"/>
                </a:solidFill>
                <a:latin typeface="Noto Sans KR"/>
              </a:rPr>
              <a:t>TTF-2 / FKHL15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280160"/>
            <a:ext cx="146304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C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3C6B4F"/>
                </a:solidFill>
                <a:latin typeface="Noto Sans KR"/>
              </a:rPr>
              <a:t>NKX2-1</a:t>
            </a:r>
          </a:p>
          <a:p>
            <a:pPr algn="ctr"/>
            <a:r>
              <a:rPr sz="850" i="1">
                <a:solidFill>
                  <a:srgbClr val="666666"/>
                </a:solidFill>
                <a:latin typeface="Noto Sans KR"/>
              </a:rPr>
              <a:t>TTF-1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280160"/>
            <a:ext cx="146304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C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3C6B4F"/>
                </a:solidFill>
                <a:latin typeface="Noto Sans KR"/>
              </a:rPr>
              <a:t>PAX8</a:t>
            </a:r>
          </a:p>
          <a:p>
            <a:pPr algn="ctr"/>
            <a:r>
              <a:rPr sz="850" i="1">
                <a:solidFill>
                  <a:srgbClr val="666666"/>
                </a:solidFill>
                <a:latin typeface="Noto Sans KR"/>
              </a:rPr>
              <a:t>PAX-related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280160"/>
            <a:ext cx="146304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C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3C6B4F"/>
                </a:solidFill>
                <a:latin typeface="Noto Sans KR"/>
              </a:rPr>
              <a:t>HHEX</a:t>
            </a:r>
          </a:p>
          <a:p>
            <a:pPr algn="ctr"/>
            <a:r>
              <a:rPr sz="850" i="1">
                <a:solidFill>
                  <a:srgbClr val="666666"/>
                </a:solidFill>
                <a:latin typeface="Noto Sans KR"/>
              </a:rPr>
              <a:t>endoderm TF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371600"/>
            <a:ext cx="429768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000" b="0">
                <a:solidFill>
                  <a:srgbClr val="3C6B4F"/>
                </a:solidFill>
                <a:latin typeface="Noto Sans KR"/>
              </a:rPr>
              <a:t>→ NIS / TG / TPO / TSHR promoter 직접 binding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0" y="1783080"/>
            <a:ext cx="0" cy="457200"/>
          </a:xfrm>
          <a:prstGeom prst="bentConnector3">
            <a:avLst/>
          </a:prstGeom>
          <a:ln w="19050">
            <a:solidFill>
              <a:srgbClr val="3C6B4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63640" y="1874519"/>
            <a:ext cx="13716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000" b="0">
                <a:solidFill>
                  <a:srgbClr val="3C6B4F"/>
                </a:solidFill>
                <a:latin typeface="Noto Sans KR"/>
              </a:rPr>
              <a:t>drives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788920"/>
            <a:ext cx="4023360" cy="274320"/>
          </a:xfrm>
          <a:prstGeom prst="roundRect">
            <a:avLst/>
          </a:prstGeom>
          <a:solidFill>
            <a:srgbClr val="FFE1DE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" y="2807208"/>
            <a:ext cx="36576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000" b="1">
                <a:solidFill>
                  <a:srgbClr val="C0392B"/>
                </a:solidFill>
                <a:latin typeface="Noto Sans KR"/>
              </a:rPr>
              <a:t>BLOOD  (basolateral)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788920"/>
            <a:ext cx="4023360" cy="274320"/>
          </a:xfrm>
          <a:prstGeom prst="roundRect">
            <a:avLst/>
          </a:prstGeom>
          <a:solidFill>
            <a:srgbClr val="FCF3E7"/>
          </a:solidFill>
          <a:ln w="12700">
            <a:solidFill>
              <a:srgbClr val="B0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55279" y="2807208"/>
            <a:ext cx="36576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000" b="1">
                <a:solidFill>
                  <a:srgbClr val="B08C1F"/>
                </a:solidFill>
                <a:latin typeface="Noto Sans KR"/>
              </a:rPr>
              <a:t>APICAL membrane</a:t>
            </a:r>
          </a:p>
        </p:txBody>
      </p:sp>
      <p:sp>
        <p:nvSpPr>
          <p:cNvPr id="17" name="Oval 16"/>
          <p:cNvSpPr/>
          <p:nvPr/>
        </p:nvSpPr>
        <p:spPr>
          <a:xfrm>
            <a:off x="5212080" y="2468880"/>
            <a:ext cx="1828800" cy="1828800"/>
          </a:xfrm>
          <a:prstGeom prst="ellipse">
            <a:avLst/>
          </a:prstGeom>
          <a:solidFill>
            <a:srgbClr val="FFF8D6"/>
          </a:solidFill>
          <a:ln w="31750">
            <a:solidFill>
              <a:srgbClr val="B08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03520" y="2697480"/>
            <a:ext cx="164592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400" b="1">
                <a:solidFill>
                  <a:srgbClr val="B08C1F"/>
                </a:solidFill>
                <a:latin typeface="Noto Sans KR"/>
              </a:rPr>
              <a:t>Colloid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971800"/>
            <a:ext cx="164592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00" b="0">
                <a:solidFill>
                  <a:srgbClr val="B08C1F"/>
                </a:solidFill>
                <a:latin typeface="Noto Sans KR"/>
              </a:rPr>
              <a:t>(lumen)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337560"/>
            <a:ext cx="164592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200" b="1">
                <a:solidFill>
                  <a:srgbClr val="C0392B"/>
                </a:solidFill>
                <a:latin typeface="Noto Sans KR"/>
              </a:rPr>
              <a:t>TG-I  (iodinated)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246120"/>
            <a:ext cx="1280160" cy="548640"/>
          </a:xfrm>
          <a:prstGeom prst="roundRect">
            <a:avLst/>
          </a:prstGeom>
          <a:solidFill>
            <a:srgbClr val="FFF0ED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C0392B"/>
                </a:solidFill>
                <a:latin typeface="Noto Sans KR"/>
              </a:rPr>
              <a:t>TSHR</a:t>
            </a:r>
          </a:p>
          <a:p>
            <a:pPr algn="ctr"/>
            <a:r>
              <a:rPr sz="900" i="1">
                <a:solidFill>
                  <a:srgbClr val="666666"/>
                </a:solidFill>
                <a:latin typeface="Noto Sans KR"/>
              </a:rPr>
              <a:t>(TSH 수용체)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154680"/>
            <a:ext cx="45720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Noto Sans KR"/>
              </a:rPr>
              <a:t>I⁻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3246120"/>
            <a:ext cx="1280160" cy="548640"/>
          </a:xfrm>
          <a:prstGeom prst="roundRect">
            <a:avLst/>
          </a:prstGeom>
          <a:solidFill>
            <a:srgbClr val="FFF0ED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C0392B"/>
                </a:solidFill>
                <a:latin typeface="Noto Sans KR"/>
              </a:rPr>
              <a:t>NIS</a:t>
            </a:r>
          </a:p>
          <a:p>
            <a:pPr algn="ctr"/>
            <a:r>
              <a:rPr sz="900" i="1">
                <a:solidFill>
                  <a:srgbClr val="666666"/>
                </a:solidFill>
                <a:latin typeface="Noto Sans KR"/>
              </a:rPr>
              <a:t>(SLC5A5)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920240" y="3108960"/>
            <a:ext cx="1371600" cy="411480"/>
          </a:xfrm>
          <a:prstGeom prst="bentConnector3">
            <a:avLst/>
          </a:prstGeom>
          <a:ln w="317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89520" y="3246120"/>
            <a:ext cx="1371600" cy="548640"/>
          </a:xfrm>
          <a:prstGeom prst="roundRect">
            <a:avLst/>
          </a:prstGeom>
          <a:solidFill>
            <a:srgbClr val="EEF4FB"/>
          </a:solidFill>
          <a:ln w="25400">
            <a:solidFill>
              <a:srgbClr val="2C5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2C5E9C"/>
                </a:solidFill>
                <a:latin typeface="Noto Sans KR"/>
              </a:rPr>
              <a:t>Pendrin</a:t>
            </a:r>
          </a:p>
          <a:p>
            <a:pPr algn="ctr"/>
            <a:r>
              <a:rPr sz="900" i="1">
                <a:solidFill>
                  <a:srgbClr val="666666"/>
                </a:solidFill>
                <a:latin typeface="Noto Sans KR"/>
              </a:rPr>
              <a:t>(SLC26A4)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223760" y="3520440"/>
            <a:ext cx="365760" cy="0"/>
          </a:xfrm>
          <a:prstGeom prst="bentConnector3">
            <a:avLst/>
          </a:prstGeom>
          <a:ln w="25400">
            <a:solidFill>
              <a:srgbClr val="2C5E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040880" y="3520440"/>
            <a:ext cx="1920240" cy="0"/>
          </a:xfrm>
          <a:prstGeom prst="bentConnector3">
            <a:avLst/>
          </a:prstGeom>
          <a:ln w="25400">
            <a:solidFill>
              <a:srgbClr val="2C5E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058400" y="2697480"/>
            <a:ext cx="1554480" cy="548640"/>
          </a:xfrm>
          <a:prstGeom prst="roundRect">
            <a:avLst/>
          </a:prstGeom>
          <a:solidFill>
            <a:srgbClr val="FFF0ED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C0392B"/>
                </a:solidFill>
                <a:latin typeface="Noto Sans KR"/>
              </a:rPr>
              <a:t>DIO1</a:t>
            </a:r>
          </a:p>
          <a:p>
            <a:pPr algn="ctr"/>
            <a:r>
              <a:rPr sz="900" i="1">
                <a:solidFill>
                  <a:srgbClr val="666666"/>
                </a:solidFill>
                <a:latin typeface="Noto Sans KR"/>
              </a:rPr>
              <a:t>(deiodinase 1)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3337560"/>
            <a:ext cx="1554480" cy="548640"/>
          </a:xfrm>
          <a:prstGeom prst="roundRect">
            <a:avLst/>
          </a:prstGeom>
          <a:solidFill>
            <a:srgbClr val="EEF4FB"/>
          </a:solidFill>
          <a:ln w="25400">
            <a:solidFill>
              <a:srgbClr val="2C5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400" b="1">
                <a:solidFill>
                  <a:srgbClr val="2C5E9C"/>
                </a:solidFill>
                <a:latin typeface="Noto Sans KR"/>
              </a:rPr>
              <a:t>DIO2</a:t>
            </a:r>
          </a:p>
          <a:p>
            <a:pPr algn="ctr"/>
            <a:r>
              <a:rPr sz="900" i="1">
                <a:solidFill>
                  <a:srgbClr val="666666"/>
                </a:solidFill>
                <a:latin typeface="Noto Sans KR"/>
              </a:rPr>
              <a:t>(deiodinase 2)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0058400" y="2286000"/>
            <a:ext cx="1920240" cy="685800"/>
          </a:xfrm>
          <a:prstGeom prst="bentConnector3">
            <a:avLst/>
          </a:prstGeom>
          <a:ln w="38100">
            <a:solidFill>
              <a:srgbClr val="B08C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424160" y="1783080"/>
            <a:ext cx="1828800" cy="36576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400" b="1">
                <a:solidFill>
                  <a:srgbClr val="B08C1F"/>
                </a:solidFill>
                <a:latin typeface="Noto Sans KR"/>
              </a:rPr>
              <a:t>T4 / T3 분비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2103120"/>
            <a:ext cx="182880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100" b="0">
                <a:solidFill>
                  <a:srgbClr val="B08C1F"/>
                </a:solidFill>
                <a:latin typeface="Noto Sans KR"/>
              </a:rPr>
              <a:t>(혈류로)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572000"/>
            <a:ext cx="1463040" cy="640080"/>
          </a:xfrm>
          <a:prstGeom prst="roundRect">
            <a:avLst/>
          </a:prstGeom>
          <a:solidFill>
            <a:srgbClr val="EEF4FB"/>
          </a:solidFill>
          <a:ln w="25400">
            <a:solidFill>
              <a:srgbClr val="2C5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2C5E9C"/>
                </a:solidFill>
                <a:latin typeface="Noto Sans KR"/>
              </a:rPr>
              <a:t>TFF3</a:t>
            </a:r>
          </a:p>
          <a:p>
            <a:pPr algn="ctr"/>
            <a:r>
              <a:rPr sz="900" i="1">
                <a:solidFill>
                  <a:srgbClr val="666666"/>
                </a:solidFill>
                <a:latin typeface="Noto Sans KR"/>
              </a:rPr>
              <a:t>(secretory)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4560" y="4572000"/>
            <a:ext cx="1463040" cy="640080"/>
          </a:xfrm>
          <a:prstGeom prst="roundRect">
            <a:avLst/>
          </a:prstGeom>
          <a:solidFill>
            <a:srgbClr val="EEF4FB"/>
          </a:solidFill>
          <a:ln w="25400">
            <a:solidFill>
              <a:srgbClr val="2C5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2C5E9C"/>
                </a:solidFill>
                <a:latin typeface="Noto Sans KR"/>
              </a:rPr>
              <a:t>GLIS3</a:t>
            </a:r>
          </a:p>
          <a:p>
            <a:pPr algn="ctr"/>
            <a:r>
              <a:rPr sz="900" i="1">
                <a:solidFill>
                  <a:srgbClr val="666666"/>
                </a:solidFill>
                <a:latin typeface="Noto Sans KR"/>
              </a:rPr>
              <a:t>(supportive TF)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23360" y="4572000"/>
            <a:ext cx="1463040" cy="640080"/>
          </a:xfrm>
          <a:prstGeom prst="roundRect">
            <a:avLst/>
          </a:prstGeom>
          <a:solidFill>
            <a:srgbClr val="FFF0ED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C0392B"/>
                </a:solidFill>
                <a:latin typeface="Noto Sans KR"/>
              </a:rPr>
              <a:t>TG</a:t>
            </a:r>
          </a:p>
          <a:p>
            <a:pPr algn="ctr"/>
            <a:r>
              <a:rPr sz="900" i="1">
                <a:solidFill>
                  <a:srgbClr val="666666"/>
                </a:solidFill>
                <a:latin typeface="Noto Sans KR"/>
              </a:rPr>
              <a:t>(thyroglobulin)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0" y="4572000"/>
            <a:ext cx="1463040" cy="640080"/>
          </a:xfrm>
          <a:prstGeom prst="roundRect">
            <a:avLst/>
          </a:prstGeom>
          <a:solidFill>
            <a:srgbClr val="FFF0ED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C0392B"/>
                </a:solidFill>
                <a:latin typeface="Noto Sans KR"/>
              </a:rPr>
              <a:t>TPO</a:t>
            </a:r>
          </a:p>
          <a:p>
            <a:pPr algn="ctr"/>
            <a:r>
              <a:rPr sz="900" i="1">
                <a:solidFill>
                  <a:srgbClr val="666666"/>
                </a:solidFill>
                <a:latin typeface="Noto Sans KR"/>
              </a:rPr>
              <a:t>(peroxidase)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4572000"/>
            <a:ext cx="1645920" cy="640080"/>
          </a:xfrm>
          <a:prstGeom prst="roundRect">
            <a:avLst/>
          </a:prstGeom>
          <a:solidFill>
            <a:srgbClr val="EEF4FB"/>
          </a:solidFill>
          <a:ln w="25400">
            <a:solidFill>
              <a:srgbClr val="2C5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2C5E9C"/>
                </a:solidFill>
                <a:latin typeface="Noto Sans KR"/>
              </a:rPr>
              <a:t>DUOX1 / 2</a:t>
            </a:r>
          </a:p>
          <a:p>
            <a:pPr algn="ctr"/>
            <a:r>
              <a:rPr sz="900" i="1">
                <a:solidFill>
                  <a:srgbClr val="666666"/>
                </a:solidFill>
                <a:latin typeface="Noto Sans KR"/>
              </a:rPr>
              <a:t>(H₂O₂ supply)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4572000"/>
            <a:ext cx="1463040" cy="640080"/>
          </a:xfrm>
          <a:prstGeom prst="roundRect">
            <a:avLst/>
          </a:prstGeom>
          <a:solidFill>
            <a:srgbClr val="EEF4FB"/>
          </a:solidFill>
          <a:ln w="25400">
            <a:solidFill>
              <a:srgbClr val="2C5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2C5E9C"/>
                </a:solidFill>
                <a:latin typeface="Noto Sans KR"/>
              </a:rPr>
              <a:t>IYD</a:t>
            </a:r>
          </a:p>
          <a:p>
            <a:pPr algn="ctr"/>
            <a:r>
              <a:rPr sz="900" i="1">
                <a:solidFill>
                  <a:srgbClr val="666666"/>
                </a:solidFill>
                <a:latin typeface="Noto Sans KR"/>
              </a:rPr>
              <a:t>(I⁻ recycle)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7132320" y="4846320"/>
            <a:ext cx="182880" cy="0"/>
          </a:xfrm>
          <a:prstGeom prst="bentConnector3">
            <a:avLst/>
          </a:prstGeom>
          <a:ln w="19050">
            <a:solidFill>
              <a:srgbClr val="2C5E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00800" y="4389120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2C5E9C"/>
                </a:solidFill>
                <a:latin typeface="Noto Sans KR"/>
              </a:rPr>
              <a:t>H₂O₂</a:t>
            </a:r>
          </a:p>
        </p:txBody>
      </p:sp>
      <p:cxnSp>
        <p:nvCxnSpPr>
          <p:cNvPr id="41" name="Connector 40"/>
          <p:cNvCxnSpPr/>
          <p:nvPr/>
        </p:nvCxnSpPr>
        <p:spPr>
          <a:xfrm flipH="1" flipV="1">
            <a:off x="6126480" y="4297680"/>
            <a:ext cx="274320" cy="274320"/>
          </a:xfrm>
          <a:prstGeom prst="bentConnector3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035040" y="4251960"/>
            <a:ext cx="146304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900" b="0">
                <a:solidFill>
                  <a:srgbClr val="C0392B"/>
                </a:solidFill>
                <a:latin typeface="Noto Sans KR"/>
              </a:rPr>
              <a:t>I⁻ 산화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4754880" y="4297680"/>
            <a:ext cx="731520" cy="274320"/>
          </a:xfrm>
          <a:prstGeom prst="bentConnector3">
            <a:avLst/>
          </a:prstGeom>
          <a:ln w="19050">
            <a:solidFill>
              <a:srgbClr val="C0392B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365760" y="5852160"/>
            <a:ext cx="11430000" cy="7772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640080" y="5989320"/>
            <a:ext cx="457200" cy="292608"/>
          </a:xfrm>
          <a:prstGeom prst="roundRect">
            <a:avLst/>
          </a:prstGeom>
          <a:solidFill>
            <a:srgbClr val="FFF0ED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188719" y="6035040"/>
            <a:ext cx="50292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Noto Sans KR"/>
              </a:rPr>
              <a:t>RAI_8 panel — 8 genes (main deployable readout)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6355080"/>
            <a:ext cx="457200" cy="292608"/>
          </a:xfrm>
          <a:prstGeom prst="roundRect">
            <a:avLst/>
          </a:prstGeom>
          <a:solidFill>
            <a:srgbClr val="EEF4FB"/>
          </a:solidFill>
          <a:ln w="25400">
            <a:solidFill>
              <a:srgbClr val="2C5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188719" y="6400800"/>
            <a:ext cx="50292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100" b="1">
                <a:solidFill>
                  <a:srgbClr val="2C5E9C"/>
                </a:solidFill>
                <a:latin typeface="Noto Sans KR"/>
              </a:rPr>
              <a:t>THYROID_NONOVERLAP — 8 genes (zero overlap with RAI_8)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0" y="5989320"/>
            <a:ext cx="457200" cy="292608"/>
          </a:xfrm>
          <a:prstGeom prst="roundRect">
            <a:avLst/>
          </a:prstGeom>
          <a:solidFill>
            <a:srgbClr val="EAF6EC"/>
          </a:solidFill>
          <a:ln w="25400">
            <a:solidFill>
              <a:srgbClr val="3C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863840" y="6035040"/>
            <a:ext cx="50292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100" b="1">
                <a:solidFill>
                  <a:srgbClr val="3C6B4F"/>
                </a:solidFill>
                <a:latin typeface="Noto Sans KR"/>
              </a:rPr>
              <a:t>TF backbone — Damante 4-TF lineage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0" y="6355080"/>
            <a:ext cx="457200" cy="292608"/>
          </a:xfrm>
          <a:prstGeom prst="roundRect">
            <a:avLst/>
          </a:prstGeom>
          <a:solidFill>
            <a:srgbClr val="FFF8D6"/>
          </a:solidFill>
          <a:ln w="25400">
            <a:solidFill>
              <a:srgbClr val="B0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863840" y="6400800"/>
            <a:ext cx="50292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l"/>
            <a:r>
              <a:rPr sz="1100" b="1">
                <a:solidFill>
                  <a:srgbClr val="B08C1F"/>
                </a:solidFill>
                <a:latin typeface="Noto Sans KR"/>
              </a:rPr>
              <a:t>Hormone output (T4 / T3)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 algn="ctr"/>
            <a:r>
              <a:rPr sz="1000" b="1">
                <a:solidFill>
                  <a:srgbClr val="7B1F2A"/>
                </a:solidFill>
                <a:latin typeface="Noto Sans KR"/>
              </a:rPr>
              <a:t>★ DM1 = 위 모든 layer (TF + RAI_8 + NONOVERLAP) 가 동시에 침묵 → RAI 흡수 machinery 시스템적 lineage collapse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